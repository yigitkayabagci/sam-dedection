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Clutter içinde (&lt; 1)</c:v>
                  </c:pt>
                  <c:pt idx="1">
                    <c:v>Benzer ton (1–3)</c:v>
                  </c:pt>
                  <c:pt idx="2">
                    <c:v>Ayrışan (&gt; 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0.462</c:v>
                </c:pt>
                <c:pt idx="1">
                  <c:v>0.568</c:v>
                </c:pt>
                <c:pt idx="2">
                  <c:v>0.717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</c:v>
                </c:pt>
              </c:strCache>
            </c:strRef>
          </c:tx>
          <c:spPr>
            <a:solidFill>
              <a:srgbClr val="002D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Clutter içinde (&lt; 1)</c:v>
                  </c:pt>
                  <c:pt idx="1">
                    <c:v>Benzer ton (1–3)</c:v>
                  </c:pt>
                  <c:pt idx="2">
                    <c:v>Ayrışan (&gt; 3)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0.617</c:v>
                </c:pt>
                <c:pt idx="1">
                  <c:v>0.71</c:v>
                </c:pt>
                <c:pt idx="2">
                  <c:v>0.821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7F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ASELSAN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Havadan Termal Görüntüde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Promptable Object Tracking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EdgeTAM: Jetson AGX Orin optimizasyonu ve thermal fine-tuning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Yiğit Kaya Bağcı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1/29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931D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gündem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8046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PROBLEM, SAM VE EDGETAM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JETSON AGX ORİN: TENSORRT VE ÇÖZÜNÜRLÜK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VERİ: MASK İHTİYACI VE DATASET'LER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EĞİTİM VE SONUÇLAR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BONUS: RGB VE ANTİ-UAV410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 SONUÇ VE SONRAKİ ADIMLAR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Problem ve Hedef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 ile seçilen hedefi termal videoda gerçek zamanlı takip etmek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3/29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 box / point verir; model hedefi segment edip takip eder</a:t>
            </a:r>
            <a:endParaRPr lang="en-US" sz="18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Class-agnostic: hedefin ne olduğu sorulmaz</a:t>
            </a:r>
            <a:endParaRPr lang="en-US" sz="18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Jetson AGX Orin, thermal kamera (640×512, 1280×720)</a:t>
            </a:r>
            <a:endParaRPr lang="en-US" sz="18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Orin'de ~1 FPS → EdgeTAM (SAM 2'nin edge sürümü)</a:t>
            </a:r>
            <a:endParaRPr lang="en-US" sz="18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EdgeTAM RGB video ile eğitildi; thermal alan dışı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463040"/>
            <a:ext cx="3867912" cy="4480560"/>
          </a:xfrm>
          <a:prstGeom prst="roundRect">
            <a:avLst>
              <a:gd name="adj" fmla="val 283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737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40 ms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6334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başına bütçe (≥ 25 FPS)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657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13,9 M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5537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EdgeTAM parametre sayısı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SAM Nasıl Çalışır: Dense Prediction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piksel için karar → eğitim de piksel düzeyinde mask ister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Görüntü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2240280"/>
            <a:ext cx="411480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(RepViT + FPN)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11480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78308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 kanal, stride 16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2240280"/>
            <a:ext cx="411480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17830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1783080"/>
            <a:ext cx="19202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 Decoder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2240280"/>
            <a:ext cx="411480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49840" y="19202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7931D"/>
          </a:solidFill>
          <a:ln w="12700">
            <a:solidFill>
              <a:srgbClr val="F7931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320040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7931D"/>
          </a:solidFill>
          <a:ln w="12700">
            <a:solidFill>
              <a:srgbClr val="F793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Prompt: box / 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3474720"/>
            <a:ext cx="1417320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0" y="3474720"/>
            <a:ext cx="0" cy="-73152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3152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Encoder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bir kez çalışır; decoder her prompt için ucuz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20·focal + dice + IoU-L1, tamamı mask üzerinde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etiketi mask'e çevrilmeden eğitim sinyali olamaz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498080" y="4023360"/>
            <a:ext cx="4142232" cy="1828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4160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5262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thermal setlerin çoğu box-only. Dataset'i kullanmak için önce mask üretmek gerekti.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SAM 2 → EdgeTAM: Memory ve Perceiver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Videoda hafıza; edge için hafızayı sıkıştırma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5/29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2: memory bank + memory attention + memory encoder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memory frame 4096 token → attention maliyeti H²W² ile büyür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EdgeTAM: 2D Spatial Perceiver, frame başına 512 latent token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4 → 2 layer, backbone RepViT-M1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SAM 2 teacher, EdgeTAM student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8×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22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memory token (4096 → 512)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48132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başına FLOP dağılımı (1024², gerçek checkpoint)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74520"/>
          <a:ext cx="482803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Modül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GFLOP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 (M)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encoder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%26,8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%61,9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encoder + Perceiver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812280" y="4069080"/>
            <a:ext cx="4828032" cy="1737360"/>
          </a:xfrm>
          <a:prstGeom prst="roundRect">
            <a:avLst>
              <a:gd name="adj" fmla="val 6316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42062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Darboğaz image encoder değil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4572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Parametrelerin %21'i olan memory attention işin %62'si. Bu yüzden tek modül değil dört modül birden hızlandırıldı.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931D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gündem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8046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PROBLEM, SAM VE EDGETAM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JETSON AGX ORİN: TENSORRT VE ÇÖZÜNÜRLÜK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VERİ: MASK İHTİYACI VE DATASET'LER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EĞİTİM VE SONUÇLAR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BONUS: RGB VE ANTİ-UAV410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 SONUÇ VE SONRAKİ ADIMLAR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6/29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TensorRT: Dört Engine, fp16, CUDA Graph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 sınırları Python'un araya girdiği yerlerde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673352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673352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bank dict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16002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head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16002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002D7A"/>
          </a:solidFill>
          <a:ln w="12700">
            <a:solidFill>
              <a:srgbClr val="002D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78608" y="2039112"/>
            <a:ext cx="192024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36008" y="2039112"/>
            <a:ext cx="192024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76288" y="2039112"/>
            <a:ext cx="192024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16568" y="2039112"/>
            <a:ext cx="192024" cy="0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2697480"/>
            <a:ext cx="6492240" cy="457200"/>
          </a:xfrm>
          <a:prstGeom prst="roundRect">
            <a:avLst>
              <a:gd name="adj" fmla="val 20000"/>
            </a:avLst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97480"/>
            <a:ext cx="6492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Python: mask + pointer bankaya yazılır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2487168"/>
            <a:ext cx="0" cy="192024"/>
          </a:xfrm>
          <a:prstGeom prst="line">
            <a:avLst/>
          </a:prstGeom>
          <a:noFill/>
          <a:ln w="22225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8640" y="34290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trace: dict, .get(), if grafiğe girmez → engine orada biter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sabit 7 slot + additive attention mask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seçildi: fp32'ye karşı IoU 0,9999 (bf16 0,9997)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Graph replay: kernel launch jitter'ı kaldırır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engine'e fusion kazancı ölçüldü: 0,217 ms (%0,5) → yapılmadı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Orin Sonuçları: 3,34× Hızlanma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500 frame, 1024², tek nesne, TensorRT 10.3, fp16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26,4 ms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süresi, TensorRT + CUDA Graph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554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3,34×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50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PyTorch 88,3 ms'ye göre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0,9993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IoU vs fp32, 500 frame, drift yok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1645920"/>
                <a:gridCol w="34107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 / frame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FPS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p50 / p90 / p99 (ms)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PyTorch (bf16)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84,4 / 101,3 / 109,1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 fp16 + CUDA Graph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 / 30,8 / 39,9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da 40 ms bütçesinin altında; frame düşüren kuyruktur, ortalama değil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Graph kapalı p99 47,2 ms → açık 37,7 ms; jitter bandı yarıya iner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Preprocessing: Model Kadar Pahalıydı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Ölçülünce 1024'te ~30 ms çıktı; yeniden yazılınca 4,7× ucuzladı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9/29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583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girdisi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Önce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Sonra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Kazanç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1024² (1280×720 kaynak)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42,8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512² (1280×720 kaynak)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512² center crop, resize 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429000"/>
            <a:ext cx="6583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resize → cv2.resize: 30× daha hızlı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 / 255.0 float64'e yükseltiyordu → float32 in-place: 7×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decode (libtiff ~34 ms) bütçe dışı: kamera frame'i bellekte verir</a:t>
            </a:r>
            <a:endParaRPr lang="en-US" sz="17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maliyeti yok: eski/yeni mask IoU 0,9993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98080" y="1508760"/>
            <a:ext cx="4142232" cy="4526280"/>
          </a:xfrm>
          <a:prstGeom prst="roundRect">
            <a:avLst>
              <a:gd name="adj" fmla="val 2649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1645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bütçesi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2057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crop + resize + normalize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4 engine + bookkeeping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mask'i kaynak çözünürlüğe geri ölçekleme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840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dışı: dosya okuma/decode, overlay çizimi, mp4 kodlama. Ölçülür, raporlanır, sayılmaz.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Çözünürlük Nasıl Değişiyor: 512 / 768 / 1024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Checkpoint 1024'te eğitildi; girdi boyutu tek config alanı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10/29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RepViT backbone + FPN neck fully convolutional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her frame hesaplanır → image_size serbest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istisna: memory attention RoPE tablosu (q_sizes) → override ile image_size / 16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Koşul: stride-2 zincirleri tam bölünmeli, token sayısı tam kare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= 3·2⁸ geçer; 720 geçmez (720 / 16 = 45)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23951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91440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768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1024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48×48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64×64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token / 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2 304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head high-res (stride 8,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96, 192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128, 256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tarafı (k_sizes)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1024'e göre uzamsal iş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5488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 latent grid sabit kaldığı için sadece image encoder ve self-attention büyür; engine'ler yeniden export edilir, checkpoint aynı.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768? Inference ve Detay Dengesi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Orin, drone kaydı 1280×720, TensorRT fp16 (crop = ortalanmış native pencere)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11/29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2801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inference ort.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maks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 + inf + post FPS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full1024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27,6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crop1024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full768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[Orin ölçümü]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crop768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[Orin ölçümü]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[…]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full512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15,7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crop512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949440" y="150876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512: 720p frame 2,5× küçülür; 6 px hedef 2–3 px olur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1024: 720p'yi upsample eder, 4× token, 40 ms sınırında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768: 720p / 1080p'den native crop, resample yok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işi 1024'ün %56'sı; küçük hedef native kalır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deployment 768; RGB Stage C eğitimi de 768'de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8463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937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768, detay kaybetmeden 25 FPS bütçesinde kalan tek nokta; 512 hız için, 1024 sınırda.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931D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gündem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8046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PROBLEM, SAM VE EDGETAM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JETSON AGX ORİN: TENSORRT VE ÇÖZÜNÜRLÜK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VERİ: MASK İHTİYACI VE DATASET'LER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EĞİTİM VE SONUÇLAR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BONUS: RGB VE ANTİ-UAV410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 SONUÇ VE SONRAKİ ADIMLAR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12/29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Veri Formatı: Mask Lazım, Elde Box Var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Aerial thermal setlerin etiket tipi ile SAM'ın eğitim sinyali uyuşmuyor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var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Box: Anti-UAV410, DroneVehicle, HIT-UAV, VTUAV, VisDrone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map: Kust4K, SegFly (piksel → sınıf)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mask: VTUAV-VIS (100 video), AeroVIS — az ve çoğu RGB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GT olmadan J&amp;F ölçülemez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1072" y="150876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yapıldı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1488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SAM: box prompt → mask (pseudo-mask pool)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 → connected component → instance + box prompt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Çıktı: (image, prompt, mask) üçlüsü, SAM 2'nin kendi tarifi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mask'li setler eğitime değil ölçüme (role = eval)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Dataset Taraması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Eleme: indirilebilir mi, aerial mi, etiket tipi, modalite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14/29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2194560"/>
                <a:gridCol w="1828800"/>
                <a:gridCol w="2587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Dataset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Modalite / çözünürlük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Etiket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Hacim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Kullanım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RGB-T hizalı, 640×512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semantic, 9 sınıf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4 024 çift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B + drawn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SegFly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RGB-T, thermal 640×512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semantic, 15 sınıf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15 007 thermal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B (temizlik sonrası)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VTUAV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RGB-T video, 1920×1080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box; 100 videoda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~1,7 M çift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pool + Stage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RGB-T, 640×512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oriented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28 442 çift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pool (155 K instance)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HIT-UAV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thermal, 640×512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2 898 kare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UAV thermal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13 923 kare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pool (SAM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BIRDSAI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gece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track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 K kare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C adayı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Anti-UAV410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video, 640×512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+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bonus: yerden göğe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VisDrone / AeroVIS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/ instance 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6 471 kare / 117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32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Elenenler: UAV-VisLoc, CrossLoc (GT = GPS), CPD-UAV (küçük), SAM2DV (ücretli, DroneVehicle türevi), LasHeR (224 GB), NII-CU (Dropbox tek akış)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Teacher ile Pseudo-Mask Havuzu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Box etiketli setler SAM teacher'dan geçip (image, box, mask) oldu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15/29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SAM 3 (transformers ≥ 5, gated); yedek SAM 2.1 Hiera-Large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Zoom-crop: küçük hedefte teacher'a kolay problem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gate: teacher IoU ≥ 0,7 · box IoU ≥ 0,6 · alan 0,15–1,3 · tek parça ≥ 0,8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Geçemeyen kare havuza girmez; kabul oranı raporlanır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DroneVehicle: %53 aynı polygon → RGB'de bir geçiş, thermal'e aynalama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4813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Toplanan thermal havuzlar (kabul edilen)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47088"/>
          <a:ext cx="4965192" cy="914400"/>
        </p:xfrm>
        <a:graphic>
          <a:graphicData uri="http://schemas.openxmlformats.org/drawingml/2006/table">
            <a:tbl>
              <a:tblPr/>
              <a:tblGrid>
                <a:gridCol w="2039112"/>
                <a:gridCol w="868680"/>
                <a:gridCol w="10515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Havuz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dronevehicle_thermal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155 180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2.1-L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vtuav_thermal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38 202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2.1-L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kaggle_uav_thermal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hituav_thermal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23 440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2.1-L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vtuav_lt_thermal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kust4k_thermal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9 653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48920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270 K+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7881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instance, thermal, box'tan üretilmiş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4617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İki teacher aynı sette: havuz başına fark tek nedene bağlanamaz; kayıtta hangi teacher olduğu yazılı.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Semantic Map → Instance: Kust4K ve SegFly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SegFly örneği: thermal frame · yayınlanan semantic harita · temiz sette kalan hedefler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uclu_ro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10515600" cy="3026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map "bütün arabalar araba" der; tracker "şu araba"yı ister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sınıfları → sınıf başına connected component → box prompt + mask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Bitişik araçlar tek bileşen: watershed ile bölme, fill / alan gate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 tuzağı: Kust4K id 6 = tree, SegFly id'ler boşluklu → indirilen veride doğrulandı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SegFly Temizliği: Hayalet ve Kaynaşma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15 007 thermal kare elden geçti; iki hata sınıfı ölçülüp elendi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hayalet_row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589520" cy="12481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157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Hayalet: mask altında araç yok (sol thermal, sağ RGB)</a:t>
            </a:r>
            <a:endParaRPr lang="en-US" sz="1100" dirty="0"/>
          </a:p>
        </p:txBody>
      </p:sp>
      <p:pic>
        <p:nvPicPr>
          <p:cNvPr id="8" name="Image 1" descr="/tmp/claude-0/-home-user-sam-dedection/ce058d2b-4a3c-5212-9395-638cb4be55fc/scratchpad/build/img/kaynasma_row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7589520" cy="1568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709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Kaynaşma: iki araç tek hedef, tek box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412480" y="1463040"/>
            <a:ext cx="3227832" cy="4572000"/>
          </a:xfrm>
          <a:prstGeom prst="roundRect">
            <a:avLst>
              <a:gd name="adj" fmla="val 339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41080" y="1645920"/>
            <a:ext cx="2834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Hayalet: kenar yoğunluğu ≈ 0 → 1 162 silindi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Kaynaşma: 1 914 bölündü / silindi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sınıfı kamyon değil (246 px) → düşürüldü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Kalan: 3 439 kare, 10 751 instance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Bedel: hayalet gate'i ~%12 gerçek aracı da götürdü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SegFly: Mask Kayması Çözülemedi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Otomatik düzeltme denendi, gözle bakınca geri alındı (üst: önce, alt: sonra)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kayma_once_son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32735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706 karede (%20,5) mask araçtan 25–50 px kaymış; yön rastgele → ortalamada görünmez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 gövdeye hizalama testi geçti, ama doğru mask'i parlak zemine (beton, çatı) çekti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kareler işaretlendi; gerçek çözüm teacher ile yeniden maskeleme (point prompt)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931D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gündem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8046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PROBLEM, SAM VE EDGETAM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JETSON AGX ORİN: TENSORRT VE ÇÖZÜNÜRLÜK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VERİ: MASK İHTİYACI VE DATASET'LER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EĞİTİM VE SONUÇLAR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BONUS: RGB VE ANTİ-UAV410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 SONUÇ VE SONRAKİ ADIMLAR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19/29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Eğitim Düzeni: Stage B ve Stage 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Memory yolu her iki aşamada donuk; encoder ve decoder uyarlanıyor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20/29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0566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B — tek kare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C — video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Eğitilen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encoder + mask decoder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object score head; encoder düşük 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attention / encoder / Perceiver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aynı: memory koordinatları bozulmasın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+ Kust4K + SegFly temiz: 10 982 kare, 40 K instance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VTUAV / VTUAV-VIS 8 frame clip, low-contrast 2× örnekleme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mix: box / jitter /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0 box; sonrası kendi memory'si (teacher forcing yok)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0,5, eval() BN donuk, EMA, LR pilotu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low-contrast augment, SAMURAI A/B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572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Ölçüm disiplini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olarak tam box çoğu mask'i zaten söyler; encoder farkı point prompt'ta görünür. Held-out kareler drawn set'ten, aynı kare iki ayrı kaynaktan eğitime sızmıyor.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Stage B: Stock vs Fine-Tune (Thermal)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25 747 held-out instance, 9 kaynak, test split; tek-kare ölçüm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178308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+0,14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prompt IoU: 0,57 → 0,71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554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+0,07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450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prompt IoU: 0,77 → 0,84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554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%83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prompt'ta IoU ≥ 0,5 (stock %63)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7498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188720"/>
                <a:gridCol w="128016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Fine-tune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≥ 0,5 oranı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≥ 0,5 oranı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+0,199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hedef (&lt; 32 px) IoU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321040" y="3520440"/>
            <a:ext cx="3319272" cy="2423160"/>
          </a:xfrm>
          <a:prstGeom prst="roundRect">
            <a:avLst>
              <a:gd name="adj" fmla="val 4528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49640" y="36118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Nasıl okunmalı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39776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box mask'in çoğunu zaten söyler. Point satırı encoder'ın gerçek kazancı. Hiçbiri tracking ölçümü değil; memory yolu kapalı.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Fine-Tune'un Kazandırdığı Örnekler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 prompt; yeşil = yalnız fine-tune buldu, kırmızı = yalnız stock, mavi = ikisi 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panel_gain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19348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4015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Üstte IoU: stock → fine-tune (fark). Kaynaklar: VTUAV, DroneVehicle, HIT-UAV.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point prompt'ta 0,01–0,13 IoU: hedefi neredeyse hiç bulamıyor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aynı karelerde 0,92–0,96: araç, yaya, sıcak gövde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1 327 instance'ın 1 006'sı iyileşti, 239'u geriledi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Çözülemeyen Case: Düşük Contrast ve Clutter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Hedef arka planla aynı tona gelince mask komşuya kayıyor; şekil değil sinyal sorunu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23/29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976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prompt mean IoU, hedef–halka kontrastı (σ birimi) ile gruplanmış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46304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hedef + clutter: 0,36 → 0,38, kazanç yok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her grupta artırıyor ama sıra değişmiyor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Video'da aynı kare memory'yi zehirliyor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Yön: contrast-aware augment, distractor-aware memory, daha çok düşük-contrast video</a:t>
            </a:r>
            <a:endParaRPr lang="en-US" sz="1500" dirty="0"/>
          </a:p>
        </p:txBody>
      </p:sp>
      <p:pic>
        <p:nvPicPr>
          <p:cNvPr id="9" name="Image 0" descr="/tmp/claude-0/-home-user-sam-dedection/ce058d2b-4a3c-5212-9395-638cb4be55fc/scratchpad/build/img/panel_lo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17720"/>
            <a:ext cx="9966960" cy="176113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Tracking: Memory Zehirlenmesi ve SAMURAI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VTUAV thermal, yaya: mask → yalnız box → kayıp (YOK); tek zor kare sonrası model toparlamıyor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sheet_ped2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1672" cy="20830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61188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object_score &lt; 0 → memory'e no_obj_ptr yazılır; sonraki 7 frame onu okur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SAMURAI: Kalman filter ile aday mask re-score (0,15·kf + 0,85·mask) + memory gate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~0: KF numpy'da; TensorRT'de yalnız +0,2 ms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Denendi: stage B / temporal / temporal+SAMURAI A/B → ölçülebilir kazanç alınamadı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Şüphe: gate warm-up'ta kf_score = 0 ile kareleri reddediyor; implementasyon doğrulanmalı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7931D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gündem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1188720"/>
            <a:ext cx="8046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PROBLEM, SAM VE EDGETAM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JETSON AGX ORİN: TENSORRT VE ÇÖZÜNÜRLÜK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 VERİ: MASK İHTİYACI VE DATASET'LER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 EĞİTİM VE SONUÇLAR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 BONUS: RGB VE ANTİ-UAV410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 SONUÇ VE SONRAKİ ADIMLAR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25/29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Bonus: RGB'de Orijinal Ağırlıklarla Tracking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VTUAV-VIS, 768 native crop; bisiklet (194 frame) ve gemi (548 frame), her karede mask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26/29</a:t>
            </a:r>
            <a:endParaRPr lang="en-US" sz="1000" dirty="0"/>
          </a:p>
        </p:txBody>
      </p:sp>
      <p:pic>
        <p:nvPicPr>
          <p:cNvPr id="6" name="Image 0" descr="/tmp/claude-0/-home-user-sam-dedection/ce058d2b-4a3c-5212-9395-638cb4be55fc/scratchpad/build/img/sheet_bike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0698480" cy="2008937"/>
          </a:xfrm>
          <a:prstGeom prst="rect">
            <a:avLst/>
          </a:prstGeom>
        </p:spPr>
      </p:pic>
      <p:pic>
        <p:nvPicPr>
          <p:cNvPr id="7" name="Image 1" descr="/tmp/claude-0/-home-user-sam-dedection/ce058d2b-4a3c-5212-9395-638cb4be55fc/scratchpad/build/img/sheet_ship0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10698480" cy="20089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504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EdgeTAM RGB video (SA-V) ile eğitildi → RGB alan içi, thermal'deki gap yok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1080p'den 768 native crop, resample yok; aynı engine'ler 768'de çalışır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pool ile fine-tune sırada; stock zaten sağlam bir taban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Bonus: Anti-UAV410 ile Scope Dışı Deneme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931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Yerden göğe thermal; küçük dataset ile Stage C, hedef birkaç piksel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27/29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309360" cy="4526280"/>
          </a:xfrm>
          <a:prstGeom prst="roundRect">
            <a:avLst>
              <a:gd name="adj" fmla="val 2424"/>
            </a:avLst>
          </a:prstGeom>
          <a:solidFill>
            <a:srgbClr val="E8EAEF"/>
          </a:solidFill>
          <a:ln w="12700">
            <a:solidFill>
              <a:srgbClr val="E8EA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0175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D4D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Video Alanı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Anti-UAV410 takip demosu (fine-tune checkpoint)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554480"/>
            <a:ext cx="4526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scope havadan yere; burada kamera yerde, hedef gökyüzünde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thermal video, box + exist etiketi; 80 dizi ile eğitim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2.1-L teacher, 4× zoom-crop ile pseudo-mask (4 gate)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birkaç piksellik hedefte takip başarılı</a:t>
            </a:r>
            <a:endParaRPr lang="en-US" sz="16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Mesaj: class-agnostic + sağlam temel → küçük dataset ile yeni scope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Sonuç ve Sonraki Adımlar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28/29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D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Bulgular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Darboğaz memory attention (%62 FLOP); 4 engine + CUDA Graph: 3,34×, p99 &lt; 40 ms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4,7× ucuzladı; 768 detay / hız dengesi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→ mask: teacher pool ile 270 K+ thermal instance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Fine-tune: point IoU 0,57 → 0,71; clutter hâlâ zor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2801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4173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6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Sırada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92024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engine + fine-tune checkpoint export, Orin ölçümü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INT8: TensorRT Model Optimizer (calibrated PTQ)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 A/B temiz tekrar; SAMURAI gate düzeltmesi, DAM4SAM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SegFly kayma: teacher ile yeniden mask</a:t>
            </a:r>
            <a:endParaRPr lang="en-US" sz="15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çok düşük-contrast thermal video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2D7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www.aselsan.com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ASELSAN ÖZEL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180015" y="6419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29/29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EdgeTAM Havadan Termal Tracking</dc:title>
  <dc:subject>PptxGenJS Presentation</dc:subject>
  <dc:creator>Yiğit Kaya Bağcı</dc:creator>
  <cp:lastModifiedBy>Yiğit Kaya Bağcı</cp:lastModifiedBy>
  <cp:revision>1</cp:revision>
  <dcterms:created xsi:type="dcterms:W3CDTF">2026-09-02T11:15:36Z</dcterms:created>
  <dcterms:modified xsi:type="dcterms:W3CDTF">2026-09-02T11:15:36Z</dcterms:modified>
</cp:coreProperties>
</file>